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71"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4225850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311556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236217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57601AD7-6919-4064-81F2-4AA80DCAB59A}" type="datetimeFigureOut">
              <a:rPr lang="es-ES" smtClean="0"/>
              <a:t>30/04/2023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3661456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57601AD7-6919-4064-81F2-4AA80DCAB59A}" type="datetimeFigureOut">
              <a:rPr lang="es-ES" smtClean="0"/>
              <a:t>30/04/2023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572772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57601AD7-6919-4064-81F2-4AA80DCAB59A}" type="datetimeFigureOut">
              <a:rPr lang="es-ES" smtClean="0"/>
              <a:t>30/04/2023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520471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01AD7-6919-4064-81F2-4AA80DCAB59A}" type="datetimeFigureOut">
              <a:rPr lang="es-ES" smtClean="0"/>
              <a:t>30/04/2023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372516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57601AD7-6919-4064-81F2-4AA80DCAB59A}" type="datetimeFigureOut">
              <a:rPr lang="es-ES" smtClean="0"/>
              <a:t>30/04/2023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2254052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57601AD7-6919-4064-81F2-4AA80DCAB59A}" type="datetimeFigureOut">
              <a:rPr lang="es-ES" smtClean="0"/>
              <a:t>30/04/2023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72892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1440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54128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161134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694670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1217832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128356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7601AD7-6919-4064-81F2-4AA80DCAB59A}" type="datetimeFigureOut">
              <a:rPr lang="es-ES" smtClean="0"/>
              <a:t>30/04/2023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E6617EB-4FD9-43FF-979D-BB7D8A8CC388}" type="slidenum">
              <a:rPr lang="es-ES" smtClean="0"/>
              <a:t>‹Nº›</a:t>
            </a:fld>
            <a:endParaRPr lang="es-ES"/>
          </a:p>
        </p:txBody>
      </p:sp>
    </p:spTree>
    <p:extLst>
      <p:ext uri="{BB962C8B-B14F-4D97-AF65-F5344CB8AC3E}">
        <p14:creationId xmlns:p14="http://schemas.microsoft.com/office/powerpoint/2010/main" val="510308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7601AD7-6919-4064-81F2-4AA80DCAB59A}" type="datetimeFigureOut">
              <a:rPr lang="es-ES" smtClean="0"/>
              <a:t>30/04/2023</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E6617EB-4FD9-43FF-979D-BB7D8A8CC388}" type="slidenum">
              <a:rPr lang="es-ES" smtClean="0"/>
              <a:t>‹Nº›</a:t>
            </a:fld>
            <a:endParaRPr lang="es-ES"/>
          </a:p>
        </p:txBody>
      </p:sp>
    </p:spTree>
    <p:extLst>
      <p:ext uri="{BB962C8B-B14F-4D97-AF65-F5344CB8AC3E}">
        <p14:creationId xmlns:p14="http://schemas.microsoft.com/office/powerpoint/2010/main" val="1253585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23741" y="509451"/>
            <a:ext cx="8211699" cy="3084185"/>
          </a:xfrm>
        </p:spPr>
        <p:txBody>
          <a:bodyPr>
            <a:normAutofit fontScale="90000"/>
          </a:bodyPr>
          <a:lstStyle/>
          <a:p>
            <a:r>
              <a:rPr lang="es-419" sz="4400" dirty="0" smtClean="0"/>
              <a:t/>
            </a:r>
            <a:br>
              <a:rPr lang="es-419" sz="4400" dirty="0" smtClean="0"/>
            </a:br>
            <a:r>
              <a:rPr lang="es-419" sz="4400" dirty="0"/>
              <a:t/>
            </a:r>
            <a:br>
              <a:rPr lang="es-419" sz="4400" dirty="0"/>
            </a:br>
            <a:r>
              <a:rPr lang="es-419" sz="4400" dirty="0" smtClean="0"/>
              <a:t>Defunciones, Tipo Mortalidad y Género de la ESE Hospital Departamental San Antonio Pitalito Huila. Año 2020</a:t>
            </a:r>
            <a:endParaRPr lang="es-ES" sz="4400" dirty="0"/>
          </a:p>
        </p:txBody>
      </p:sp>
      <p:sp>
        <p:nvSpPr>
          <p:cNvPr id="3" name="Subtítulo 2"/>
          <p:cNvSpPr>
            <a:spLocks noGrp="1"/>
          </p:cNvSpPr>
          <p:nvPr>
            <p:ph type="subTitle" idx="1"/>
          </p:nvPr>
        </p:nvSpPr>
        <p:spPr>
          <a:xfrm>
            <a:off x="1524000" y="3593637"/>
            <a:ext cx="9144000" cy="1736010"/>
          </a:xfrm>
        </p:spPr>
        <p:txBody>
          <a:bodyPr>
            <a:normAutofit fontScale="92500" lnSpcReduction="10000"/>
          </a:bodyPr>
          <a:lstStyle/>
          <a:p>
            <a:r>
              <a:rPr lang="es-419" dirty="0"/>
              <a:t>El </a:t>
            </a:r>
            <a:r>
              <a:rPr lang="es-419" dirty="0" smtClean="0"/>
              <a:t>Hospital </a:t>
            </a:r>
            <a:r>
              <a:rPr lang="es-419" dirty="0"/>
              <a:t>Departamental San Antonio de Pitalito es una institución de salud pública ubicada en el municipio de Pitalito, en el departamento de Huila, Colombia. Pitalito está localizado en el sur oriente del departamento de Huila. La Secretaría de Salud del Departamento </a:t>
            </a:r>
            <a:r>
              <a:rPr lang="es-419" dirty="0" smtClean="0"/>
              <a:t>de </a:t>
            </a:r>
            <a:r>
              <a:rPr lang="es-419" dirty="0"/>
              <a:t>Huila, informa que Pitalito cuenta con tres hospitales públicos: Hospital Departamental San Antonio, Hospital Universitario San Agustín y Hospital de Pitalito</a:t>
            </a:r>
            <a:r>
              <a:rPr lang="es-419" dirty="0" smtClean="0"/>
              <a:t>.</a:t>
            </a:r>
          </a:p>
          <a:p>
            <a:r>
              <a:rPr lang="es-ES" dirty="0"/>
              <a:t> https://www.datos.gov.co/resource/5n4t-3dgk.json</a:t>
            </a:r>
            <a:endParaRPr lang="es-419" dirty="0" smtClean="0"/>
          </a:p>
          <a:p>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77" y="5329647"/>
            <a:ext cx="1752845" cy="1343212"/>
          </a:xfrm>
          <a:prstGeom prst="rect">
            <a:avLst/>
          </a:prstGeom>
        </p:spPr>
      </p:pic>
      <p:sp>
        <p:nvSpPr>
          <p:cNvPr id="5" name="Subtítulo 2"/>
          <p:cNvSpPr txBox="1">
            <a:spLocks/>
          </p:cNvSpPr>
          <p:nvPr/>
        </p:nvSpPr>
        <p:spPr>
          <a:xfrm>
            <a:off x="3030583" y="6126479"/>
            <a:ext cx="6100354" cy="54637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r>
              <a:rPr lang="es-419" b="1" i="1" dirty="0">
                <a:effectLst>
                  <a:outerShdw blurRad="38100" dist="38100" dir="2700000" algn="tl">
                    <a:srgbClr val="000000">
                      <a:alpha val="43137"/>
                    </a:srgbClr>
                  </a:outerShdw>
                </a:effectLst>
              </a:rPr>
              <a:t>Nancy Manzano. Comisión: 32830 -Data Science</a:t>
            </a:r>
            <a:endParaRPr lang="es-ES" dirty="0"/>
          </a:p>
          <a:p>
            <a:endParaRPr lang="es-ES" dirty="0"/>
          </a:p>
        </p:txBody>
      </p:sp>
    </p:spTree>
    <p:extLst>
      <p:ext uri="{BB962C8B-B14F-4D97-AF65-F5344CB8AC3E}">
        <p14:creationId xmlns:p14="http://schemas.microsoft.com/office/powerpoint/2010/main" val="3647219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u="sng" dirty="0" smtClean="0"/>
              <a:t>Contexto</a:t>
            </a:r>
            <a:endParaRPr lang="es-ES" u="sng" dirty="0"/>
          </a:p>
        </p:txBody>
      </p:sp>
      <p:sp>
        <p:nvSpPr>
          <p:cNvPr id="3" name="Marcador de contenido 2"/>
          <p:cNvSpPr>
            <a:spLocks noGrp="1"/>
          </p:cNvSpPr>
          <p:nvPr>
            <p:ph idx="1"/>
          </p:nvPr>
        </p:nvSpPr>
        <p:spPr/>
        <p:txBody>
          <a:bodyPr>
            <a:normAutofit/>
          </a:bodyPr>
          <a:lstStyle/>
          <a:p>
            <a:pPr marL="0" indent="0">
              <a:buNone/>
            </a:pPr>
            <a:r>
              <a:rPr lang="es-ES" dirty="0" smtClean="0"/>
              <a:t>Al trabajar con un Dataset de Ciudad de Buenos Aires, me resultó interesante buscar algo similar de otro país e interiorizarme sobre sus registros de mortalidad.</a:t>
            </a:r>
          </a:p>
          <a:p>
            <a:pPr marL="0" indent="0">
              <a:buNone/>
            </a:pPr>
            <a:r>
              <a:rPr lang="es-ES" dirty="0" smtClean="0"/>
              <a:t>Al observar este tipo de datos, suelo hacerme 2 preguntas:</a:t>
            </a:r>
          </a:p>
          <a:p>
            <a:r>
              <a:rPr lang="es-ES" dirty="0" smtClean="0"/>
              <a:t>Cuál es la mayor causa de mortalidad?</a:t>
            </a:r>
          </a:p>
          <a:p>
            <a:r>
              <a:rPr lang="es-ES" dirty="0" smtClean="0"/>
              <a:t>Tienen algún tipo de cobertura médica?</a:t>
            </a:r>
          </a:p>
          <a:p>
            <a:pPr marL="0" indent="0">
              <a:buNone/>
            </a:pPr>
            <a:endParaRPr lang="es-ES" dirty="0" smtClean="0"/>
          </a:p>
          <a:p>
            <a:pPr marL="0" indent="0">
              <a:buNone/>
            </a:pPr>
            <a:r>
              <a:rPr lang="es-ES" dirty="0" smtClean="0"/>
              <a:t>Mi análisis se centrará en contestar estas preguntas con los datos publicados del año 2020 que corresponden al sector de </a:t>
            </a:r>
            <a:r>
              <a:rPr lang="es-ES" dirty="0"/>
              <a:t>Salud y Protección </a:t>
            </a:r>
            <a:r>
              <a:rPr lang="es-ES" dirty="0" smtClean="0"/>
              <a:t>Social del </a:t>
            </a:r>
            <a:r>
              <a:rPr lang="es-419" dirty="0" smtClean="0"/>
              <a:t>Hospital Departamental San Antonio de Pitalito en Colombia.</a:t>
            </a: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645403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u="sng" dirty="0" smtClean="0"/>
              <a:t>Audiencia</a:t>
            </a:r>
            <a:endParaRPr lang="es-ES" u="sng" dirty="0"/>
          </a:p>
        </p:txBody>
      </p:sp>
      <p:sp>
        <p:nvSpPr>
          <p:cNvPr id="3" name="Marcador de contenido 2"/>
          <p:cNvSpPr>
            <a:spLocks noGrp="1"/>
          </p:cNvSpPr>
          <p:nvPr>
            <p:ph idx="1"/>
          </p:nvPr>
        </p:nvSpPr>
        <p:spPr/>
        <p:txBody>
          <a:bodyPr/>
          <a:lstStyle/>
          <a:p>
            <a:pPr marL="0" indent="0">
              <a:buNone/>
            </a:pPr>
            <a:r>
              <a:rPr lang="es-ES" dirty="0" smtClean="0"/>
              <a:t>Este análisis intentará contestar las preguntas anteriores, pudiendo ser de utilidad para cualquier persona interesada en Salud Pública o que quiera hacer un comparativo con información similar sobre defunciones de otra región.</a:t>
            </a:r>
          </a:p>
          <a:p>
            <a:pPr marL="0" indent="0">
              <a:buNone/>
            </a:pPr>
            <a:r>
              <a:rPr lang="es-ES" dirty="0" smtClean="0"/>
              <a:t>Limitaciones:</a:t>
            </a:r>
          </a:p>
          <a:p>
            <a:pPr marL="0" indent="0">
              <a:buNone/>
            </a:pPr>
            <a:r>
              <a:rPr lang="es-ES" dirty="0" smtClean="0"/>
              <a:t>Nos estaremos basando sólo en un año, el 2020, dado que no hay publicaciones posteriores, o anteriores. No son consecuentes con la publicación de sus datos.</a:t>
            </a: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3606418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25937"/>
            <a:ext cx="10515600" cy="1325563"/>
          </a:xfrm>
        </p:spPr>
        <p:txBody>
          <a:bodyPr/>
          <a:lstStyle/>
          <a:p>
            <a:pPr algn="ctr"/>
            <a:r>
              <a:rPr lang="es-ES" u="sng" dirty="0" smtClean="0"/>
              <a:t>Preguntas de interés</a:t>
            </a:r>
            <a:endParaRPr lang="es-ES" u="sng" dirty="0"/>
          </a:p>
        </p:txBody>
      </p:sp>
      <p:sp>
        <p:nvSpPr>
          <p:cNvPr id="3" name="Marcador de contenido 2"/>
          <p:cNvSpPr>
            <a:spLocks noGrp="1"/>
          </p:cNvSpPr>
          <p:nvPr>
            <p:ph idx="1"/>
          </p:nvPr>
        </p:nvSpPr>
        <p:spPr/>
        <p:txBody>
          <a:bodyPr>
            <a:normAutofit/>
          </a:bodyPr>
          <a:lstStyle/>
          <a:p>
            <a:pPr marL="0" indent="0">
              <a:buNone/>
            </a:pPr>
            <a:r>
              <a:rPr lang="es-ES" dirty="0" smtClean="0"/>
              <a:t>Preguntas Principales</a:t>
            </a:r>
          </a:p>
          <a:p>
            <a:r>
              <a:rPr lang="es-ES" dirty="0" smtClean="0"/>
              <a:t>Cuál es la mayor causa de mortalidad?</a:t>
            </a:r>
          </a:p>
          <a:p>
            <a:r>
              <a:rPr lang="es-ES" dirty="0"/>
              <a:t>Tienen algún tipo de cobertura médica?</a:t>
            </a:r>
          </a:p>
          <a:p>
            <a:pPr marL="0" indent="0">
              <a:buNone/>
            </a:pPr>
            <a:endParaRPr lang="es-ES" dirty="0" smtClean="0"/>
          </a:p>
          <a:p>
            <a:pPr marL="0" indent="0">
              <a:buNone/>
            </a:pPr>
            <a:r>
              <a:rPr lang="es-ES" dirty="0" smtClean="0"/>
              <a:t>Otras Preguntas</a:t>
            </a:r>
          </a:p>
          <a:p>
            <a:r>
              <a:rPr lang="es-ES" dirty="0" smtClean="0"/>
              <a:t>Cómo se dividen los tipos de defunciones?</a:t>
            </a:r>
          </a:p>
          <a:p>
            <a:r>
              <a:rPr lang="es-ES" dirty="0" smtClean="0"/>
              <a:t>Predominan hombres o mujeres’</a:t>
            </a:r>
          </a:p>
          <a:p>
            <a:r>
              <a:rPr lang="es-ES" dirty="0" smtClean="0"/>
              <a:t>En qué lugar físico se producen la mayoría de las defunciones? Y en qué área?</a:t>
            </a:r>
          </a:p>
          <a:p>
            <a:r>
              <a:rPr lang="es-ES" dirty="0" smtClean="0"/>
              <a:t>Han recibido asistencia médica?</a:t>
            </a:r>
          </a:p>
          <a:p>
            <a:endParaRPr lang="es-ES" dirty="0" smtClean="0"/>
          </a:p>
          <a:p>
            <a:endParaRPr lang="es-ES" dirty="0" smtClean="0"/>
          </a:p>
          <a:p>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1779939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u="sng" dirty="0" smtClean="0"/>
              <a:t>Datos</a:t>
            </a:r>
            <a:endParaRPr lang="es-ES" u="sng" dirty="0"/>
          </a:p>
        </p:txBody>
      </p:sp>
      <p:sp>
        <p:nvSpPr>
          <p:cNvPr id="3" name="Marcador de contenido 2"/>
          <p:cNvSpPr>
            <a:spLocks noGrp="1"/>
          </p:cNvSpPr>
          <p:nvPr>
            <p:ph idx="1"/>
          </p:nvPr>
        </p:nvSpPr>
        <p:spPr>
          <a:xfrm>
            <a:off x="677334" y="1149531"/>
            <a:ext cx="8596668" cy="4891831"/>
          </a:xfrm>
        </p:spPr>
        <p:txBody>
          <a:bodyPr>
            <a:normAutofit/>
          </a:bodyPr>
          <a:lstStyle/>
          <a:p>
            <a:r>
              <a:rPr lang="es-ES" dirty="0" smtClean="0"/>
              <a:t>En el registro de datos  notamos que muchos de los ítems no son completados por el Hospital, lo que genera varias columnas con un gran faltante de datos. Estimamos que la falta de estos registros se debe a que no es obligatorio, por lo cual seleccionamos solo las variables de interés para realizar nuestro análisis:</a:t>
            </a:r>
          </a:p>
          <a:p>
            <a:r>
              <a:rPr lang="es-ES" dirty="0" smtClean="0"/>
              <a:t>       'departamento</a:t>
            </a:r>
            <a:r>
              <a:rPr lang="es-ES" dirty="0"/>
              <a:t>', 'municipio', '</a:t>
            </a:r>
            <a:r>
              <a:rPr lang="es-ES" dirty="0" err="1"/>
              <a:t>area_defuncion</a:t>
            </a:r>
            <a:r>
              <a:rPr lang="es-ES" dirty="0"/>
              <a:t>', '</a:t>
            </a:r>
            <a:r>
              <a:rPr lang="es-ES" dirty="0" err="1"/>
              <a:t>sitio_defuncion</a:t>
            </a:r>
            <a:r>
              <a:rPr lang="es-ES" dirty="0"/>
              <a:t>',</a:t>
            </a:r>
          </a:p>
          <a:p>
            <a:r>
              <a:rPr lang="es-ES" dirty="0"/>
              <a:t>       '</a:t>
            </a:r>
            <a:r>
              <a:rPr lang="es-ES" dirty="0" err="1"/>
              <a:t>codigo_institucion</a:t>
            </a:r>
            <a:r>
              <a:rPr lang="es-ES" dirty="0"/>
              <a:t>', '</a:t>
            </a:r>
            <a:r>
              <a:rPr lang="es-ES" dirty="0" err="1"/>
              <a:t>nombre_institucion</a:t>
            </a:r>
            <a:r>
              <a:rPr lang="es-ES" dirty="0"/>
              <a:t>', '</a:t>
            </a:r>
            <a:r>
              <a:rPr lang="es-ES" dirty="0" err="1"/>
              <a:t>tipo_defuncion</a:t>
            </a:r>
            <a:r>
              <a:rPr lang="es-ES" dirty="0"/>
              <a:t>',</a:t>
            </a:r>
          </a:p>
          <a:p>
            <a:r>
              <a:rPr lang="es-ES" dirty="0"/>
              <a:t>       '</a:t>
            </a:r>
            <a:r>
              <a:rPr lang="es-ES" dirty="0" err="1"/>
              <a:t>fecha_defuncion</a:t>
            </a:r>
            <a:r>
              <a:rPr lang="es-ES" dirty="0"/>
              <a:t>', '</a:t>
            </a:r>
            <a:r>
              <a:rPr lang="es-ES" dirty="0" err="1"/>
              <a:t>sexo_fallecido</a:t>
            </a:r>
            <a:r>
              <a:rPr lang="es-ES" dirty="0"/>
              <a:t>', '</a:t>
            </a:r>
            <a:r>
              <a:rPr lang="es-ES" dirty="0" err="1"/>
              <a:t>pais_residencia</a:t>
            </a:r>
            <a:r>
              <a:rPr lang="es-ES" dirty="0"/>
              <a:t>',</a:t>
            </a:r>
          </a:p>
          <a:p>
            <a:r>
              <a:rPr lang="es-ES" dirty="0"/>
              <a:t>       '</a:t>
            </a:r>
            <a:r>
              <a:rPr lang="es-ES" dirty="0" err="1"/>
              <a:t>departamento_residencia</a:t>
            </a:r>
            <a:r>
              <a:rPr lang="es-ES" dirty="0"/>
              <a:t>', '</a:t>
            </a:r>
            <a:r>
              <a:rPr lang="es-ES" dirty="0" err="1"/>
              <a:t>municipio_residencia</a:t>
            </a:r>
            <a:r>
              <a:rPr lang="es-ES" dirty="0"/>
              <a:t>',</a:t>
            </a:r>
          </a:p>
          <a:p>
            <a:r>
              <a:rPr lang="es-ES" dirty="0"/>
              <a:t>       '</a:t>
            </a:r>
            <a:r>
              <a:rPr lang="es-ES" dirty="0" err="1"/>
              <a:t>tipo_administradora</a:t>
            </a:r>
            <a:r>
              <a:rPr lang="es-ES" dirty="0"/>
              <a:t>', '</a:t>
            </a:r>
            <a:r>
              <a:rPr lang="es-ES" dirty="0" err="1"/>
              <a:t>expedido_por</a:t>
            </a:r>
            <a:r>
              <a:rPr lang="es-ES" dirty="0"/>
              <a:t>', '</a:t>
            </a:r>
            <a:r>
              <a:rPr lang="es-ES" dirty="0" err="1"/>
              <a:t>recibi_asistencia_medica</a:t>
            </a:r>
            <a:r>
              <a:rPr lang="es-ES" dirty="0"/>
              <a:t>',</a:t>
            </a:r>
          </a:p>
          <a:p>
            <a:r>
              <a:rPr lang="es-ES" dirty="0"/>
              <a:t>       '</a:t>
            </a:r>
            <a:r>
              <a:rPr lang="es-ES" dirty="0" err="1"/>
              <a:t>causa_directa</a:t>
            </a:r>
            <a:r>
              <a:rPr lang="es-ES" dirty="0"/>
              <a:t>', '</a:t>
            </a:r>
            <a:r>
              <a:rPr lang="es-ES" dirty="0" err="1"/>
              <a:t>nombres_y_apellidos</a:t>
            </a:r>
            <a:r>
              <a:rPr lang="es-ES" dirty="0"/>
              <a:t>', '</a:t>
            </a:r>
            <a:r>
              <a:rPr lang="es-ES" dirty="0" err="1"/>
              <a:t>departamento_expedicion</a:t>
            </a:r>
            <a:r>
              <a:rPr lang="es-ES" dirty="0"/>
              <a:t>',</a:t>
            </a:r>
          </a:p>
          <a:p>
            <a:r>
              <a:rPr lang="es-ES" dirty="0"/>
              <a:t>       '</a:t>
            </a:r>
            <a:r>
              <a:rPr lang="es-ES" dirty="0" err="1"/>
              <a:t>municipio_expedicion</a:t>
            </a:r>
            <a:r>
              <a:rPr lang="es-ES" dirty="0"/>
              <a:t>', '</a:t>
            </a:r>
            <a:r>
              <a:rPr lang="es-ES" dirty="0" err="1"/>
              <a:t>fecha_nacimiento_fallecido</a:t>
            </a:r>
            <a:r>
              <a:rPr lang="es-ES" dirty="0"/>
              <a:t>'</a:t>
            </a:r>
            <a:endParaRPr lang="es-ES" dirty="0" smtClean="0"/>
          </a:p>
          <a:p>
            <a:endParaRPr lang="es-ES" dirty="0"/>
          </a:p>
        </p:txBody>
      </p:sp>
      <p:pic>
        <p:nvPicPr>
          <p:cNvPr id="8" name="Imagen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366383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1558834"/>
          </a:xfrm>
        </p:spPr>
        <p:txBody>
          <a:bodyPr>
            <a:normAutofit/>
          </a:bodyPr>
          <a:lstStyle/>
          <a:p>
            <a:pPr algn="ctr"/>
            <a:r>
              <a:rPr lang="es-419" sz="2000" b="1" u="sng" dirty="0" smtClean="0"/>
              <a:t>TIPO DE DEFUNCIONES Y LUGAR DE DECESO</a:t>
            </a:r>
            <a:r>
              <a:rPr lang="es-419" sz="2000" dirty="0" smtClean="0"/>
              <a:t/>
            </a:r>
            <a:br>
              <a:rPr lang="es-419" sz="2000" dirty="0" smtClean="0"/>
            </a:br>
            <a:r>
              <a:rPr lang="es-419" sz="2000" dirty="0" smtClean="0"/>
              <a:t>Podemos </a:t>
            </a:r>
            <a:r>
              <a:rPr lang="es-419" sz="2000" dirty="0"/>
              <a:t>observar que las defunciones en el Hospital son clasificadas por fetales y no </a:t>
            </a:r>
            <a:r>
              <a:rPr lang="es-419" sz="2000" dirty="0" smtClean="0"/>
              <a:t>fetales.</a:t>
            </a:r>
            <a:br>
              <a:rPr lang="es-419" sz="2000" dirty="0" smtClean="0"/>
            </a:br>
            <a:r>
              <a:rPr lang="es-419" sz="2000" dirty="0" smtClean="0"/>
              <a:t>Y el deceso, en algunos casos se produce antes del ingreso al Hospital.</a:t>
            </a:r>
            <a:endParaRPr lang="es-ES" sz="2000" dirty="0"/>
          </a:p>
        </p:txBody>
      </p:sp>
      <p:pic>
        <p:nvPicPr>
          <p:cNvPr id="4" name="Marcador de contenido 3"/>
          <p:cNvPicPr>
            <a:picLocks noGrp="1"/>
          </p:cNvPicPr>
          <p:nvPr>
            <p:ph idx="1"/>
          </p:nvPr>
        </p:nvPicPr>
        <p:blipFill rotWithShape="1">
          <a:blip r:embed="rId2"/>
          <a:srcRect l="19226" t="29179" r="38264" b="17172"/>
          <a:stretch/>
        </p:blipFill>
        <p:spPr bwMode="auto">
          <a:xfrm>
            <a:off x="2240867" y="2403566"/>
            <a:ext cx="5470304" cy="3638459"/>
          </a:xfrm>
          <a:prstGeom prst="rect">
            <a:avLst/>
          </a:prstGeom>
          <a:ln>
            <a:noFill/>
          </a:ln>
          <a:extLst>
            <a:ext uri="{53640926-AAD7-44D8-BBD7-CCE9431645EC}">
              <a14:shadowObscured xmlns:a14="http://schemas.microsoft.com/office/drawing/2010/main"/>
            </a:ext>
          </a:extLst>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1342533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1793106"/>
          </a:xfrm>
        </p:spPr>
        <p:txBody>
          <a:bodyPr>
            <a:normAutofit/>
          </a:bodyPr>
          <a:lstStyle/>
          <a:p>
            <a:pPr algn="ctr"/>
            <a:r>
              <a:rPr lang="es-419" sz="2000" u="sng" dirty="0" smtClean="0"/>
              <a:t>DEFUNCIONES POR GÉNERO</a:t>
            </a:r>
            <a:r>
              <a:rPr lang="es-419" sz="2000" dirty="0" smtClean="0"/>
              <a:t/>
            </a:r>
            <a:br>
              <a:rPr lang="es-419" sz="2000" dirty="0" smtClean="0"/>
            </a:br>
            <a:r>
              <a:rPr lang="es-419" sz="2000" dirty="0" smtClean="0"/>
              <a:t>Y </a:t>
            </a:r>
            <a:r>
              <a:rPr lang="es-419" sz="2000" dirty="0"/>
              <a:t>según una breve </a:t>
            </a:r>
            <a:r>
              <a:rPr lang="es-419" sz="2000" dirty="0" smtClean="0"/>
              <a:t>investigación la clasificación de fetales/no fetales, se </a:t>
            </a:r>
            <a:r>
              <a:rPr lang="es-419" sz="2000" dirty="0"/>
              <a:t>debe a que el hospital posee una sala de maternidad. También se clasifican por sexo del fallecido, </a:t>
            </a:r>
            <a:r>
              <a:rPr lang="es-419" sz="2000" dirty="0" smtClean="0"/>
              <a:t>por lo que podemos </a:t>
            </a:r>
            <a:r>
              <a:rPr lang="es-419" sz="2000" dirty="0"/>
              <a:t>inferir que al tratarse de un feto, en algunos casos el sexo será indeterminado.</a:t>
            </a:r>
            <a:endParaRPr lang="es-ES" sz="2000" dirty="0"/>
          </a:p>
        </p:txBody>
      </p:sp>
      <p:pic>
        <p:nvPicPr>
          <p:cNvPr id="4" name="Marcador de contenido 3"/>
          <p:cNvPicPr>
            <a:picLocks noGrp="1"/>
          </p:cNvPicPr>
          <p:nvPr>
            <p:ph idx="1"/>
          </p:nvPr>
        </p:nvPicPr>
        <p:blipFill rotWithShape="1">
          <a:blip r:embed="rId2"/>
          <a:srcRect l="19579" t="40472" r="40910" b="23448"/>
          <a:stretch/>
        </p:blipFill>
        <p:spPr bwMode="auto">
          <a:xfrm>
            <a:off x="507517" y="2742456"/>
            <a:ext cx="4129797" cy="2639324"/>
          </a:xfrm>
          <a:prstGeom prst="rect">
            <a:avLst/>
          </a:prstGeom>
          <a:ln>
            <a:noFill/>
          </a:ln>
          <a:extLst>
            <a:ext uri="{53640926-AAD7-44D8-BBD7-CCE9431645EC}">
              <a14:shadowObscured xmlns:a14="http://schemas.microsoft.com/office/drawing/2010/main"/>
            </a:ext>
          </a:extLst>
        </p:spPr>
      </p:pic>
      <p:pic>
        <p:nvPicPr>
          <p:cNvPr id="5" name="Imagen 4"/>
          <p:cNvPicPr/>
          <p:nvPr/>
        </p:nvPicPr>
        <p:blipFill rotWithShape="1">
          <a:blip r:embed="rId3"/>
          <a:srcRect l="19756" t="38590" r="43378" b="25016"/>
          <a:stretch/>
        </p:blipFill>
        <p:spPr bwMode="auto">
          <a:xfrm>
            <a:off x="4637314" y="2742457"/>
            <a:ext cx="4349932" cy="2770070"/>
          </a:xfrm>
          <a:prstGeom prst="rect">
            <a:avLst/>
          </a:prstGeom>
          <a:ln>
            <a:noFill/>
          </a:ln>
          <a:extLst>
            <a:ext uri="{53640926-AAD7-44D8-BBD7-CCE9431645EC}">
              <a14:shadowObscured xmlns:a14="http://schemas.microsoft.com/office/drawing/2010/main"/>
            </a:ext>
          </a:extLst>
        </p:spPr>
      </p:pic>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2068321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188260"/>
            <a:ext cx="8596668" cy="2003612"/>
          </a:xfrm>
        </p:spPr>
        <p:txBody>
          <a:bodyPr>
            <a:noAutofit/>
          </a:bodyPr>
          <a:lstStyle/>
          <a:p>
            <a:pPr algn="ctr"/>
            <a:r>
              <a:rPr lang="es-ES" sz="2000" u="sng" dirty="0" smtClean="0"/>
              <a:t>DEFUNCIONES POR ÁREA</a:t>
            </a:r>
            <a:r>
              <a:rPr lang="es-ES" sz="2000" dirty="0" smtClean="0"/>
              <a:t/>
            </a:r>
            <a:br>
              <a:rPr lang="es-ES" sz="2000" dirty="0" smtClean="0"/>
            </a:br>
            <a:r>
              <a:rPr lang="es-ES" sz="2000" dirty="0"/>
              <a:t/>
            </a:r>
            <a:br>
              <a:rPr lang="es-ES" sz="2000" dirty="0"/>
            </a:br>
            <a:r>
              <a:rPr lang="es-ES" sz="2000" dirty="0" smtClean="0"/>
              <a:t>El </a:t>
            </a:r>
            <a:r>
              <a:rPr lang="es-ES" sz="2000" dirty="0"/>
              <a:t>área de residencia del fallecido es tomado como dato, segmentándose en: cabecera municipal, rural disperso y centro poblado. El 97.16% de los fallecidos pertenece al área cabecera </a:t>
            </a:r>
            <a:r>
              <a:rPr lang="es-ES" sz="2000" dirty="0" smtClean="0"/>
              <a:t>municipal, que es </a:t>
            </a:r>
            <a:r>
              <a:rPr lang="es-ES" sz="2000" dirty="0"/>
              <a:t>el área geográfica que está definida por un perímetro </a:t>
            </a:r>
            <a:r>
              <a:rPr lang="es-ES" sz="2000" dirty="0" smtClean="0"/>
              <a:t>urbano.</a:t>
            </a:r>
            <a:endParaRPr lang="es-ES" sz="2000" dirty="0"/>
          </a:p>
        </p:txBody>
      </p:sp>
      <p:pic>
        <p:nvPicPr>
          <p:cNvPr id="10" name="Marcador de contenido 9"/>
          <p:cNvPicPr>
            <a:picLocks noGrp="1"/>
          </p:cNvPicPr>
          <p:nvPr>
            <p:ph idx="1"/>
          </p:nvPr>
        </p:nvPicPr>
        <p:blipFill rotWithShape="1">
          <a:blip r:embed="rId2"/>
          <a:srcRect l="22577" t="40787" r="35972" b="7131"/>
          <a:stretch/>
        </p:blipFill>
        <p:spPr bwMode="auto">
          <a:xfrm>
            <a:off x="1089212" y="2191872"/>
            <a:ext cx="7100047" cy="4383739"/>
          </a:xfrm>
          <a:prstGeom prst="rect">
            <a:avLst/>
          </a:prstGeom>
          <a:ln>
            <a:noFill/>
          </a:ln>
          <a:extLst>
            <a:ext uri="{53640926-AAD7-44D8-BBD7-CCE9431645EC}">
              <a14:shadowObscured xmlns:a14="http://schemas.microsoft.com/office/drawing/2010/main"/>
            </a:ext>
          </a:extLst>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448877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599"/>
            <a:ext cx="8596668" cy="1754777"/>
          </a:xfrm>
        </p:spPr>
        <p:txBody>
          <a:bodyPr>
            <a:normAutofit fontScale="90000"/>
          </a:bodyPr>
          <a:lstStyle/>
          <a:p>
            <a:pPr algn="ctr"/>
            <a:r>
              <a:rPr lang="es-419" sz="2200" u="sng" dirty="0" smtClean="0"/>
              <a:t>TIPO DE DEFUNCIÓN POR ÁREA</a:t>
            </a:r>
            <a:r>
              <a:rPr lang="es-419" sz="2200" dirty="0" smtClean="0"/>
              <a:t/>
            </a:r>
            <a:br>
              <a:rPr lang="es-419" sz="2200" dirty="0" smtClean="0"/>
            </a:br>
            <a:r>
              <a:rPr lang="es-419" sz="2200" dirty="0"/>
              <a:t/>
            </a:r>
            <a:br>
              <a:rPr lang="es-419" sz="2200" dirty="0"/>
            </a:br>
            <a:r>
              <a:rPr lang="es-419" sz="2200" dirty="0" smtClean="0"/>
              <a:t>Observamos </a:t>
            </a:r>
            <a:r>
              <a:rPr lang="es-419" sz="2200" dirty="0"/>
              <a:t>que tanto las defunciones fetales, como no fetales son las que ampliamente predominan en la cabecera municipal, muy lejos continúan las no fetales del área rural disperso</a:t>
            </a:r>
            <a:r>
              <a:rPr lang="es-419" sz="3100" dirty="0"/>
              <a:t>.</a:t>
            </a:r>
            <a:r>
              <a:rPr lang="es-419" dirty="0"/>
              <a:t/>
            </a:r>
            <a:br>
              <a:rPr lang="es-419" dirty="0"/>
            </a:br>
            <a:r>
              <a:rPr lang="es-419" dirty="0"/>
              <a:t/>
            </a:r>
            <a:br>
              <a:rPr lang="es-419" dirty="0"/>
            </a:br>
            <a:endParaRPr lang="es-ES" dirty="0"/>
          </a:p>
        </p:txBody>
      </p:sp>
      <p:pic>
        <p:nvPicPr>
          <p:cNvPr id="4" name="Marcador de contenido 3"/>
          <p:cNvPicPr>
            <a:picLocks noGrp="1"/>
          </p:cNvPicPr>
          <p:nvPr>
            <p:ph idx="1"/>
          </p:nvPr>
        </p:nvPicPr>
        <p:blipFill rotWithShape="1">
          <a:blip r:embed="rId2"/>
          <a:srcRect l="24870" t="31060" r="39147" b="27526"/>
          <a:stretch/>
        </p:blipFill>
        <p:spPr bwMode="auto">
          <a:xfrm>
            <a:off x="1423851" y="2786572"/>
            <a:ext cx="6753498" cy="3588101"/>
          </a:xfrm>
          <a:prstGeom prst="rect">
            <a:avLst/>
          </a:prstGeom>
          <a:ln>
            <a:noFill/>
          </a:ln>
          <a:extLst>
            <a:ext uri="{53640926-AAD7-44D8-BBD7-CCE9431645EC}">
              <a14:shadowObscured xmlns:a14="http://schemas.microsoft.com/office/drawing/2010/main"/>
            </a:ext>
          </a:extLst>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2179042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1767840"/>
          </a:xfrm>
        </p:spPr>
        <p:txBody>
          <a:bodyPr>
            <a:noAutofit/>
          </a:bodyPr>
          <a:lstStyle/>
          <a:p>
            <a:pPr algn="ctr"/>
            <a:r>
              <a:rPr lang="es-419" sz="2000" u="sng" dirty="0" smtClean="0"/>
              <a:t>ASISTENCIA MÉDICA PREVIA</a:t>
            </a:r>
            <a:r>
              <a:rPr lang="es-419" sz="2000" dirty="0" smtClean="0"/>
              <a:t/>
            </a:r>
            <a:br>
              <a:rPr lang="es-419" sz="2000" dirty="0" smtClean="0"/>
            </a:br>
            <a:r>
              <a:rPr lang="es-419" sz="2000" dirty="0"/>
              <a:t/>
            </a:r>
            <a:br>
              <a:rPr lang="es-419" sz="2000" dirty="0"/>
            </a:br>
            <a:r>
              <a:rPr lang="es-419" sz="2000" dirty="0" smtClean="0"/>
              <a:t>Es </a:t>
            </a:r>
            <a:r>
              <a:rPr lang="es-419" sz="2000" dirty="0"/>
              <a:t>importante visualizar que el 96.28% recibió atención médica antes de su fallecimiento, y de los que no recibieron en su mayoría se trata de muertes no fetales.</a:t>
            </a:r>
            <a:endParaRPr lang="es-ES" sz="2000" dirty="0"/>
          </a:p>
        </p:txBody>
      </p:sp>
      <p:pic>
        <p:nvPicPr>
          <p:cNvPr id="4" name="Marcador de contenido 3"/>
          <p:cNvPicPr>
            <a:picLocks noGrp="1"/>
          </p:cNvPicPr>
          <p:nvPr>
            <p:ph idx="1"/>
          </p:nvPr>
        </p:nvPicPr>
        <p:blipFill rotWithShape="1">
          <a:blip r:embed="rId2"/>
          <a:srcRect l="27339" t="28237" r="45144" b="44154"/>
          <a:stretch/>
        </p:blipFill>
        <p:spPr bwMode="auto">
          <a:xfrm>
            <a:off x="677334" y="2612571"/>
            <a:ext cx="3789762" cy="2899954"/>
          </a:xfrm>
          <a:prstGeom prst="rect">
            <a:avLst/>
          </a:prstGeom>
          <a:ln>
            <a:noFill/>
          </a:ln>
          <a:extLst>
            <a:ext uri="{53640926-AAD7-44D8-BBD7-CCE9431645EC}">
              <a14:shadowObscured xmlns:a14="http://schemas.microsoft.com/office/drawing/2010/main"/>
            </a:ext>
          </a:extLst>
        </p:spPr>
      </p:pic>
      <p:pic>
        <p:nvPicPr>
          <p:cNvPr id="5" name="Imagen 4"/>
          <p:cNvPicPr/>
          <p:nvPr/>
        </p:nvPicPr>
        <p:blipFill rotWithShape="1">
          <a:blip r:embed="rId3"/>
          <a:srcRect l="27164" t="39218" r="41968" b="19682"/>
          <a:stretch/>
        </p:blipFill>
        <p:spPr bwMode="auto">
          <a:xfrm>
            <a:off x="4713921" y="3196998"/>
            <a:ext cx="4116569" cy="3661002"/>
          </a:xfrm>
          <a:prstGeom prst="rect">
            <a:avLst/>
          </a:prstGeom>
          <a:ln>
            <a:noFill/>
          </a:ln>
          <a:extLst>
            <a:ext uri="{53640926-AAD7-44D8-BBD7-CCE9431645EC}">
              <a14:shadowObscured xmlns:a14="http://schemas.microsoft.com/office/drawing/2010/main"/>
            </a:ext>
          </a:extLst>
        </p:spPr>
      </p:pic>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1160471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1950720"/>
          </a:xfrm>
        </p:spPr>
        <p:txBody>
          <a:bodyPr>
            <a:noAutofit/>
          </a:bodyPr>
          <a:lstStyle/>
          <a:p>
            <a:pPr algn="ctr"/>
            <a:r>
              <a:rPr lang="es-419" sz="2000" u="sng" dirty="0" smtClean="0"/>
              <a:t>CAUSA DE DEFUNCIÓN</a:t>
            </a:r>
            <a:r>
              <a:rPr lang="es-419" sz="2000" dirty="0" smtClean="0"/>
              <a:t/>
            </a:r>
            <a:br>
              <a:rPr lang="es-419" sz="2000" dirty="0" smtClean="0"/>
            </a:br>
            <a:r>
              <a:rPr lang="es-419" sz="2000" dirty="0"/>
              <a:t/>
            </a:r>
            <a:br>
              <a:rPr lang="es-419" sz="2000" dirty="0"/>
            </a:br>
            <a:r>
              <a:rPr lang="es-419" sz="2000" dirty="0" smtClean="0"/>
              <a:t>Siendo </a:t>
            </a:r>
            <a:r>
              <a:rPr lang="es-419" sz="2000" dirty="0"/>
              <a:t>varias las causas directas de defunción, se realiza un top 10 para ver cuáles predominan, y se observa que las relacionadas a maternidad son las más frecuentes, como aborto retenido y aborto incompleto, y en 3er puesto la de insuficiencia respiratoria </a:t>
            </a:r>
            <a:r>
              <a:rPr lang="es-419" sz="2000" dirty="0" smtClean="0"/>
              <a:t>aguda.</a:t>
            </a:r>
            <a:endParaRPr lang="es-ES" sz="2000" dirty="0"/>
          </a:p>
        </p:txBody>
      </p:sp>
      <p:pic>
        <p:nvPicPr>
          <p:cNvPr id="6" name="Marcador de contenido 5"/>
          <p:cNvPicPr>
            <a:picLocks noGrp="1"/>
          </p:cNvPicPr>
          <p:nvPr>
            <p:ph idx="1"/>
          </p:nvPr>
        </p:nvPicPr>
        <p:blipFill rotWithShape="1">
          <a:blip r:embed="rId2"/>
          <a:srcRect l="24165" t="35766" r="22565" b="17800"/>
          <a:stretch/>
        </p:blipFill>
        <p:spPr bwMode="auto">
          <a:xfrm>
            <a:off x="901337" y="2560320"/>
            <a:ext cx="7539851" cy="3814122"/>
          </a:xfrm>
          <a:prstGeom prst="rect">
            <a:avLst/>
          </a:prstGeom>
          <a:ln>
            <a:noFill/>
          </a:ln>
          <a:extLst>
            <a:ext uri="{53640926-AAD7-44D8-BBD7-CCE9431645EC}">
              <a14:shadowObscured xmlns:a14="http://schemas.microsoft.com/office/drawing/2010/main"/>
            </a:ext>
          </a:extLst>
        </p:spPr>
      </p:pic>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2271832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599"/>
            <a:ext cx="8596668" cy="1846217"/>
          </a:xfrm>
        </p:spPr>
        <p:txBody>
          <a:bodyPr>
            <a:noAutofit/>
          </a:bodyPr>
          <a:lstStyle/>
          <a:p>
            <a:pPr algn="ctr"/>
            <a:r>
              <a:rPr lang="es-419" sz="1800" u="sng" dirty="0" smtClean="0"/>
              <a:t>COBERTURA MÉDICA</a:t>
            </a:r>
            <a:br>
              <a:rPr lang="es-419" sz="1800" u="sng" dirty="0" smtClean="0"/>
            </a:br>
            <a:r>
              <a:rPr lang="es-419" sz="1800" dirty="0"/>
              <a:t/>
            </a:r>
            <a:br>
              <a:rPr lang="es-419" sz="1800" dirty="0"/>
            </a:br>
            <a:r>
              <a:rPr lang="es-419" sz="1800" dirty="0" smtClean="0"/>
              <a:t>En </a:t>
            </a:r>
            <a:r>
              <a:rPr lang="es-419" sz="1800" dirty="0"/>
              <a:t>Colombia desde el año 1991 se estableció el derecho de todos los colombianos a la atención a la salud como un servicio público. Sin embargo, existen sistemas de cobertura privada en su totalidad, como también un sistema subsidiado</a:t>
            </a:r>
            <a:r>
              <a:rPr lang="es-419" sz="1800" dirty="0" smtClean="0"/>
              <a:t>.</a:t>
            </a:r>
            <a:br>
              <a:rPr lang="es-419" sz="1800" dirty="0" smtClean="0"/>
            </a:br>
            <a:r>
              <a:rPr lang="es-419" sz="1800" dirty="0" smtClean="0"/>
              <a:t>Visualizamos en el siguiente gráfico la cobertura del registro de defunciones.</a:t>
            </a:r>
            <a:endParaRPr lang="es-ES" sz="1800" dirty="0"/>
          </a:p>
        </p:txBody>
      </p:sp>
      <p:pic>
        <p:nvPicPr>
          <p:cNvPr id="4" name="Marcador de contenido 3"/>
          <p:cNvPicPr>
            <a:picLocks noGrp="1"/>
          </p:cNvPicPr>
          <p:nvPr>
            <p:ph idx="1"/>
          </p:nvPr>
        </p:nvPicPr>
        <p:blipFill rotWithShape="1">
          <a:blip r:embed="rId2"/>
          <a:srcRect l="24518" t="26668" r="25211" b="25957"/>
          <a:stretch/>
        </p:blipFill>
        <p:spPr bwMode="auto">
          <a:xfrm>
            <a:off x="2261258" y="2824188"/>
            <a:ext cx="6540835" cy="3465576"/>
          </a:xfrm>
          <a:prstGeom prst="rect">
            <a:avLst/>
          </a:prstGeom>
          <a:ln>
            <a:noFill/>
          </a:ln>
          <a:extLst>
            <a:ext uri="{53640926-AAD7-44D8-BBD7-CCE9431645EC}">
              <a14:shadowObscured xmlns:a14="http://schemas.microsoft.com/office/drawing/2010/main"/>
            </a:ext>
          </a:extLst>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1680432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p:cNvPicPr>
          <p:nvPr>
            <p:ph idx="1"/>
          </p:nvPr>
        </p:nvPicPr>
        <p:blipFill rotWithShape="1">
          <a:blip r:embed="rId2"/>
          <a:srcRect l="25224" t="24785" r="42321" b="8074"/>
          <a:stretch/>
        </p:blipFill>
        <p:spPr bwMode="auto">
          <a:xfrm>
            <a:off x="3487783" y="1476104"/>
            <a:ext cx="5747657" cy="5081452"/>
          </a:xfrm>
          <a:prstGeom prst="rect">
            <a:avLst/>
          </a:prstGeom>
          <a:ln>
            <a:noFill/>
          </a:ln>
          <a:extLst>
            <a:ext uri="{53640926-AAD7-44D8-BBD7-CCE9431645EC}">
              <a14:shadowObscured xmlns:a14="http://schemas.microsoft.com/office/drawing/2010/main"/>
            </a:ext>
          </a:extLst>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
        <p:nvSpPr>
          <p:cNvPr id="6" name="Título 1"/>
          <p:cNvSpPr txBox="1">
            <a:spLocks/>
          </p:cNvSpPr>
          <p:nvPr/>
        </p:nvSpPr>
        <p:spPr>
          <a:xfrm>
            <a:off x="829735" y="761999"/>
            <a:ext cx="2827866" cy="4019007"/>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dirty="0" smtClean="0"/>
              <a:t>Podemos visualizar quienes han recibido asistencia previa según su cobertura de salud.</a:t>
            </a:r>
            <a:endParaRPr lang="es-ES" dirty="0"/>
          </a:p>
        </p:txBody>
      </p:sp>
      <p:sp>
        <p:nvSpPr>
          <p:cNvPr id="7" name="Título 1"/>
          <p:cNvSpPr txBox="1">
            <a:spLocks/>
          </p:cNvSpPr>
          <p:nvPr/>
        </p:nvSpPr>
        <p:spPr>
          <a:xfrm>
            <a:off x="4940180" y="640078"/>
            <a:ext cx="3663889" cy="714105"/>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s-ES" u="sng" dirty="0" smtClean="0"/>
              <a:t>ASISTENCIA PREVIA POR COBERTURA MÉDICA</a:t>
            </a:r>
            <a:endParaRPr lang="es-ES" u="sng" dirty="0"/>
          </a:p>
        </p:txBody>
      </p:sp>
    </p:spTree>
    <p:extLst>
      <p:ext uri="{BB962C8B-B14F-4D97-AF65-F5344CB8AC3E}">
        <p14:creationId xmlns:p14="http://schemas.microsoft.com/office/powerpoint/2010/main" val="1460721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ES" u="sng" dirty="0"/>
              <a:t>INSIGHTS &amp; </a:t>
            </a:r>
            <a:r>
              <a:rPr lang="es-ES" u="sng" dirty="0" smtClean="0"/>
              <a:t>CONCLUSIONES</a:t>
            </a:r>
            <a:r>
              <a:rPr lang="es-ES" dirty="0"/>
              <a:t/>
            </a:r>
            <a:br>
              <a:rPr lang="es-ES" dirty="0"/>
            </a:br>
            <a:r>
              <a:rPr lang="es-ES" dirty="0"/>
              <a:t/>
            </a:r>
            <a:br>
              <a:rPr lang="es-ES" dirty="0"/>
            </a:br>
            <a:endParaRPr lang="es-ES" dirty="0"/>
          </a:p>
        </p:txBody>
      </p:sp>
      <p:sp>
        <p:nvSpPr>
          <p:cNvPr id="3" name="Marcador de contenido 2"/>
          <p:cNvSpPr>
            <a:spLocks noGrp="1"/>
          </p:cNvSpPr>
          <p:nvPr>
            <p:ph idx="1"/>
          </p:nvPr>
        </p:nvSpPr>
        <p:spPr>
          <a:xfrm>
            <a:off x="677334" y="1280161"/>
            <a:ext cx="8596668" cy="4310742"/>
          </a:xfrm>
        </p:spPr>
        <p:txBody>
          <a:bodyPr>
            <a:normAutofit fontScale="85000" lnSpcReduction="20000"/>
          </a:bodyPr>
          <a:lstStyle/>
          <a:p>
            <a:r>
              <a:rPr lang="es-419" dirty="0" smtClean="0"/>
              <a:t>Las </a:t>
            </a:r>
            <a:r>
              <a:rPr lang="es-419" dirty="0"/>
              <a:t>defunciones registradas en el </a:t>
            </a:r>
            <a:r>
              <a:rPr lang="es-419" dirty="0" smtClean="0"/>
              <a:t>Hospital </a:t>
            </a:r>
            <a:r>
              <a:rPr lang="es-419" dirty="0"/>
              <a:t>Departamental San Antonio Pitalito</a:t>
            </a:r>
            <a:r>
              <a:rPr lang="es-419" dirty="0" smtClean="0"/>
              <a:t> se </a:t>
            </a:r>
            <a:r>
              <a:rPr lang="es-419" dirty="0"/>
              <a:t>producen en la mayoría </a:t>
            </a:r>
            <a:r>
              <a:rPr lang="es-419" dirty="0" smtClean="0"/>
              <a:t>en el </a:t>
            </a:r>
            <a:r>
              <a:rPr lang="es-419" dirty="0"/>
              <a:t>Hospital </a:t>
            </a:r>
            <a:r>
              <a:rPr lang="es-419" dirty="0" smtClean="0"/>
              <a:t> y </a:t>
            </a:r>
            <a:r>
              <a:rPr lang="es-419" dirty="0"/>
              <a:t>en segundo lugar en el domicilio de la persona.</a:t>
            </a:r>
          </a:p>
          <a:p>
            <a:r>
              <a:rPr lang="es-419" dirty="0"/>
              <a:t>Son clasificadas como fetales y no fetales al poseer un sector de </a:t>
            </a:r>
            <a:r>
              <a:rPr lang="es-419" dirty="0" smtClean="0"/>
              <a:t>maternidad desde el año 1936. </a:t>
            </a:r>
          </a:p>
          <a:p>
            <a:r>
              <a:rPr lang="es-419" dirty="0" smtClean="0"/>
              <a:t>Prevalecen </a:t>
            </a:r>
            <a:r>
              <a:rPr lang="es-419" dirty="0"/>
              <a:t>las defunciones del sexo femenino y si bien se encuentra en tercer lugar, un 22.84% es de sexo indeterminado.</a:t>
            </a:r>
          </a:p>
          <a:p>
            <a:r>
              <a:rPr lang="es-419" dirty="0"/>
              <a:t>Las defunciones fetales son levemente mayores a las no fetales registradas. Y en su mayoría los fallecidos residían en la cabecera municipal.</a:t>
            </a:r>
          </a:p>
          <a:p>
            <a:r>
              <a:rPr lang="es-419" dirty="0"/>
              <a:t>De la totalidad de fallecidos un 96.28% recibió asistencia médica previo a su deceso, teniendo en primer lugar un servicio de salud subsidiado</a:t>
            </a:r>
            <a:r>
              <a:rPr lang="es-419" dirty="0" smtClean="0"/>
              <a:t>.</a:t>
            </a:r>
          </a:p>
          <a:p>
            <a:r>
              <a:rPr lang="es-419" dirty="0" smtClean="0"/>
              <a:t> </a:t>
            </a:r>
          </a:p>
          <a:p>
            <a:pPr marL="0" indent="0">
              <a:buNone/>
            </a:pPr>
            <a:r>
              <a:rPr lang="es-419" dirty="0" smtClean="0"/>
              <a:t>     </a:t>
            </a:r>
            <a:r>
              <a:rPr lang="es-419" u="sng" dirty="0" smtClean="0"/>
              <a:t>Respuesta a nuestra preguntas principales:</a:t>
            </a:r>
          </a:p>
          <a:p>
            <a:r>
              <a:rPr lang="es-419" dirty="0" smtClean="0"/>
              <a:t>La mayoría de los pacientes poseía un servicio de cobertura médica subsidiado</a:t>
            </a:r>
          </a:p>
          <a:p>
            <a:r>
              <a:rPr lang="es-419" dirty="0" smtClean="0"/>
              <a:t>Vemos </a:t>
            </a:r>
            <a:r>
              <a:rPr lang="es-419" dirty="0"/>
              <a:t>que en el hospital la mayor causa de fallecimientos son las asociadas al sector de maternidad, dado que prevalecen las causas de muerte por aborto incompleto y aborto retenido.</a:t>
            </a:r>
          </a:p>
          <a:p>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205" y="5721530"/>
            <a:ext cx="1483053" cy="1136469"/>
          </a:xfrm>
          <a:prstGeom prst="rect">
            <a:avLst/>
          </a:prstGeom>
        </p:spPr>
      </p:pic>
    </p:spTree>
    <p:extLst>
      <p:ext uri="{BB962C8B-B14F-4D97-AF65-F5344CB8AC3E}">
        <p14:creationId xmlns:p14="http://schemas.microsoft.com/office/powerpoint/2010/main" val="952432366"/>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217</TotalTime>
  <Words>626</Words>
  <Application>Microsoft Office PowerPoint</Application>
  <PresentationFormat>Panorámica</PresentationFormat>
  <Paragraphs>54</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Trebuchet MS</vt:lpstr>
      <vt:lpstr>Wingdings 3</vt:lpstr>
      <vt:lpstr>Faceta</vt:lpstr>
      <vt:lpstr>  Defunciones, Tipo Mortalidad y Género de la ESE Hospital Departamental San Antonio Pitalito Huila. Año 2020</vt:lpstr>
      <vt:lpstr>Contexto</vt:lpstr>
      <vt:lpstr>Audiencia</vt:lpstr>
      <vt:lpstr>Preguntas de interés</vt:lpstr>
      <vt:lpstr>Datos</vt:lpstr>
      <vt:lpstr>TIPO DE DEFUNCIONES Y LUGAR DE DECESO Podemos observar que las defunciones en el Hospital son clasificadas por fetales y no fetales. Y el deceso, en algunos casos se produce antes del ingreso al Hospital.</vt:lpstr>
      <vt:lpstr>DEFUNCIONES POR GÉNERO Y según una breve investigación la clasificación de fetales/no fetales, se debe a que el hospital posee una sala de maternidad. También se clasifican por sexo del fallecido, por lo que podemos inferir que al tratarse de un feto, en algunos casos el sexo será indeterminado.</vt:lpstr>
      <vt:lpstr>DEFUNCIONES POR ÁREA  El área de residencia del fallecido es tomado como dato, segmentándose en: cabecera municipal, rural disperso y centro poblado. El 97.16% de los fallecidos pertenece al área cabecera municipal, que es el área geográfica que está definida por un perímetro urbano.</vt:lpstr>
      <vt:lpstr>TIPO DE DEFUNCIÓN POR ÁREA  Observamos que tanto las defunciones fetales, como no fetales son las que ampliamente predominan en la cabecera municipal, muy lejos continúan las no fetales del área rural disperso.  </vt:lpstr>
      <vt:lpstr>ASISTENCIA MÉDICA PREVIA  Es importante visualizar que el 96.28% recibió atención médica antes de su fallecimiento, y de los que no recibieron en su mayoría se trata de muertes no fetales.</vt:lpstr>
      <vt:lpstr>CAUSA DE DEFUNCIÓN  Siendo varias las causas directas de defunción, se realiza un top 10 para ver cuáles predominan, y se observa que las relacionadas a maternidad son las más frecuentes, como aborto retenido y aborto incompleto, y en 3er puesto la de insuficiencia respiratoria aguda.</vt:lpstr>
      <vt:lpstr>COBERTURA MÉDICA  En Colombia desde el año 1991 se estableció el derecho de todos los colombianos a la atención a la salud como un servicio público. Sin embargo, existen sistemas de cobertura privada en su totalidad, como también un sistema subsidiado. Visualizamos en el siguiente gráfico la cobertura del registro de defunciones.</vt:lpstr>
      <vt:lpstr>Presentación de PowerPoint</vt:lpstr>
      <vt:lpstr>INSIGHTS &amp; CONCLUSIONES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Defunciones, Tipo Mortalidad y Género de la ESE Hospital Departamental San Antonio Pitalito Huila. Año 2020</dc:title>
  <dc:creator>Cuenta Microsoft</dc:creator>
  <cp:lastModifiedBy>Cuenta Microsoft</cp:lastModifiedBy>
  <cp:revision>29</cp:revision>
  <dcterms:created xsi:type="dcterms:W3CDTF">2023-04-28T17:09:26Z</dcterms:created>
  <dcterms:modified xsi:type="dcterms:W3CDTF">2023-04-30T15:55:07Z</dcterms:modified>
</cp:coreProperties>
</file>